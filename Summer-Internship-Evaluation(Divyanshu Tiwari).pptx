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Platypi Medium" panose="020B0604020202020204" charset="0"/>
      <p:regular r:id="rId14"/>
    </p:embeddedFont>
    <p:embeddedFont>
      <p:font typeface="Source Serif 4" panose="020B0604020202020204" charset="0"/>
      <p:regular r:id="rId15"/>
    </p:embeddedFont>
    <p:embeddedFont>
      <p:font typeface="Source Serif 4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1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9F7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95299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Summer Internship Evaluation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417762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Java Backend &amp; Cloud Engineering Intern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66CC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IILM University, Greater Noida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· School of Computer Science and Engineering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33360" y="3920331"/>
            <a:ext cx="2917851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Student: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DIVYANSHU TIWARI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Roll No: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CS-2341805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Program: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B.Tech CSE | 7th Semester | Batch 2026–27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18719" y="3920331"/>
            <a:ext cx="291785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Organization: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Code-B Solutions Pvt. Ltd.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Duration: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March 2026 – August 2026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Role: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Java Backend &amp; Cloud Engineering Intern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9F7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7992" y="485279"/>
            <a:ext cx="4415422" cy="5887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57808"/>
            <a:ext cx="6296860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Internship Overview</a:t>
            </a:r>
            <a:endParaRPr lang="en-US" sz="3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241326"/>
            <a:ext cx="6296860" cy="9021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3187" y="1416844"/>
            <a:ext cx="586963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Organization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913187" y="1739106"/>
            <a:ext cx="586963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Code-B Solutions Pvt. Ltd., Mumbai (Remote)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273102"/>
            <a:ext cx="6296860" cy="9021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3187" y="2448620"/>
            <a:ext cx="586963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Role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913187" y="2770882"/>
            <a:ext cx="586963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Java Backend &amp; Cloud Engineering Intern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304877"/>
            <a:ext cx="6296860" cy="9021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3187" y="3480395"/>
            <a:ext cx="586963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Duration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913187" y="3802658"/>
            <a:ext cx="586963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March 2026 – August 2026 · </a:t>
            </a:r>
            <a:r>
              <a:rPr lang="en-US" sz="12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6 Months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336653"/>
            <a:ext cx="6296860" cy="113109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3187" y="4512171"/>
            <a:ext cx="586963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Primary Focus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913187" y="4834434"/>
            <a:ext cx="586963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Backend development, REST API design, cloud deployment, and DevOps practices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61475" y="5613499"/>
            <a:ext cx="6296860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Bridging academic concepts with production-oriented software engineering — designing, developing, testing, and deploying scalable backend services using Java and Spring Boot.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338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Internship Objectives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02445"/>
            <a:ext cx="3509081" cy="350916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30721" y="1641475"/>
            <a:ext cx="418593" cy="418604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4700420" y="1676301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5232468" y="1705372"/>
            <a:ext cx="630410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Strengthen Java &amp; OOP Design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232468" y="2179241"/>
            <a:ext cx="63041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Deepen programming fundamentals and object-oriented principles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630721" y="2840831"/>
            <a:ext cx="418593" cy="418604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9" name="Text 6"/>
          <p:cNvSpPr/>
          <p:nvPr/>
        </p:nvSpPr>
        <p:spPr>
          <a:xfrm>
            <a:off x="4700420" y="2875657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5232468" y="2904728"/>
            <a:ext cx="630410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Production-Grade REST APIs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232468" y="3378597"/>
            <a:ext cx="63041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Build APIs using Spring Boot with real-world reliability standards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630721" y="4040188"/>
            <a:ext cx="418593" cy="418604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3" name="Text 10"/>
          <p:cNvSpPr/>
          <p:nvPr/>
        </p:nvSpPr>
        <p:spPr>
          <a:xfrm>
            <a:off x="4700420" y="4075013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5232468" y="4104084"/>
            <a:ext cx="630410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Scalable Backend Architecture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232468" y="4577953"/>
            <a:ext cx="63041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Understand distributed systems and scalable service design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4630721" y="5239544"/>
            <a:ext cx="418593" cy="418604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7" name="Text 14"/>
          <p:cNvSpPr/>
          <p:nvPr/>
        </p:nvSpPr>
        <p:spPr>
          <a:xfrm>
            <a:off x="4700420" y="5274370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2150" dirty="0"/>
          </a:p>
        </p:txBody>
      </p:sp>
      <p:sp>
        <p:nvSpPr>
          <p:cNvPr id="18" name="Text 15"/>
          <p:cNvSpPr/>
          <p:nvPr/>
        </p:nvSpPr>
        <p:spPr>
          <a:xfrm>
            <a:off x="5232468" y="5303441"/>
            <a:ext cx="630410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 &amp; DevOps Mastery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232468" y="5777309"/>
            <a:ext cx="63041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Deploy on AWS EC2, containerize with Docker, and automate CI/CD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256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Technology Stack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671241"/>
            <a:ext cx="3496877" cy="2147590"/>
          </a:xfrm>
          <a:prstGeom prst="roundRect">
            <a:avLst>
              <a:gd name="adj" fmla="val 1320"/>
            </a:avLst>
          </a:prstGeom>
          <a:solidFill>
            <a:srgbClr val="F9F7F7"/>
          </a:solidFill>
          <a:ln/>
        </p:spPr>
      </p:sp>
      <p:sp>
        <p:nvSpPr>
          <p:cNvPr id="4" name="Shape 2"/>
          <p:cNvSpPr/>
          <p:nvPr/>
        </p:nvSpPr>
        <p:spPr>
          <a:xfrm>
            <a:off x="850482" y="1860252"/>
            <a:ext cx="567021" cy="567035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6450" y="2016125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482" y="2616299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Backend &amp; Framework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3024981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Java · Spring Boot · Spring Security · Spring Data JPA · RESTful APIs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1671241"/>
            <a:ext cx="3496877" cy="2147590"/>
          </a:xfrm>
          <a:prstGeom prst="roundRect">
            <a:avLst>
              <a:gd name="adj" fmla="val 1320"/>
            </a:avLst>
          </a:prstGeom>
          <a:solidFill>
            <a:srgbClr val="F9F7F7"/>
          </a:solidFill>
          <a:ln/>
        </p:spPr>
      </p:sp>
      <p:sp>
        <p:nvSpPr>
          <p:cNvPr id="9" name="Shape 6"/>
          <p:cNvSpPr/>
          <p:nvPr/>
        </p:nvSpPr>
        <p:spPr>
          <a:xfrm>
            <a:off x="4536366" y="1860252"/>
            <a:ext cx="567021" cy="567035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2334" y="2016125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6366" y="2616299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Database &amp; Cloud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36366" y="3024981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PostgreSQL · AWS EC2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33244" y="1671241"/>
            <a:ext cx="3496877" cy="2147590"/>
          </a:xfrm>
          <a:prstGeom prst="roundRect">
            <a:avLst>
              <a:gd name="adj" fmla="val 1320"/>
            </a:avLst>
          </a:prstGeom>
          <a:solidFill>
            <a:srgbClr val="F9F7F7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2251" y="1860252"/>
            <a:ext cx="567021" cy="567035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78219" y="2016125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2251" y="2616299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DevOps &amp; Containers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22251" y="3024981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Docker · GitHub Actions · CI/CD · Git · Maven · Linux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61475" y="4007842"/>
            <a:ext cx="5339820" cy="2147590"/>
          </a:xfrm>
          <a:prstGeom prst="roundRect">
            <a:avLst>
              <a:gd name="adj" fmla="val 1320"/>
            </a:avLst>
          </a:prstGeom>
          <a:solidFill>
            <a:srgbClr val="F9F7F7"/>
          </a:solidFill>
          <a:ln/>
        </p:spPr>
      </p:sp>
      <p:sp>
        <p:nvSpPr>
          <p:cNvPr id="19" name="Shape 14"/>
          <p:cNvSpPr/>
          <p:nvPr/>
        </p:nvSpPr>
        <p:spPr>
          <a:xfrm>
            <a:off x="850482" y="4196854"/>
            <a:ext cx="567021" cy="567035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450" y="4352727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0482" y="4952901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Testing &amp; API Tools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850482" y="5361583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JUnit · Integration Testing · API Contract Testing · Postman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6190301" y="4007842"/>
            <a:ext cx="5339820" cy="2147590"/>
          </a:xfrm>
          <a:prstGeom prst="roundRect">
            <a:avLst>
              <a:gd name="adj" fmla="val 1320"/>
            </a:avLst>
          </a:prstGeom>
          <a:solidFill>
            <a:srgbClr val="F9F7F7"/>
          </a:solidFill>
          <a:ln/>
        </p:spPr>
      </p:sp>
      <p:sp>
        <p:nvSpPr>
          <p:cNvPr id="24" name="Shape 18"/>
          <p:cNvSpPr/>
          <p:nvPr/>
        </p:nvSpPr>
        <p:spPr>
          <a:xfrm>
            <a:off x="6379308" y="4196854"/>
            <a:ext cx="567021" cy="567035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5276" y="4352727"/>
            <a:ext cx="255085" cy="2550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79308" y="4952901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Project Management</a:t>
            </a:r>
            <a:endParaRPr lang="en-US" sz="1850" dirty="0"/>
          </a:p>
        </p:txBody>
      </p:sp>
      <p:sp>
        <p:nvSpPr>
          <p:cNvPr id="27" name="Text 20"/>
          <p:cNvSpPr/>
          <p:nvPr/>
        </p:nvSpPr>
        <p:spPr>
          <a:xfrm>
            <a:off x="6379308" y="5361583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JIRA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5787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Backend Development &amp; REST API Engineering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78074"/>
            <a:ext cx="3518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Was Built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61475" y="2031206"/>
            <a:ext cx="3518308" cy="4180880"/>
          </a:xfrm>
          <a:prstGeom prst="rect">
            <a:avLst/>
          </a:prstGeom>
          <a:noFill/>
          <a:ln/>
        </p:spPr>
        <p:txBody>
          <a:bodyPr wrap="square" lIns="0" tIns="72063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15+ production-grade REST APIs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designed and deployed using Spring Boot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Implemented </a:t>
            </a:r>
            <a:r>
              <a:rPr lang="en-US" sz="14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centralized exception handling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and </a:t>
            </a:r>
            <a:r>
              <a:rPr lang="en-US" sz="14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input validation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across all APIs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Maintained </a:t>
            </a:r>
            <a:r>
              <a:rPr lang="en-US" sz="14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consistent API response contracts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for reliable client integration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Applied </a:t>
            </a:r>
            <a:r>
              <a:rPr lang="en-US" sz="14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Domain-Driven Design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and clean engineering principles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Worked across </a:t>
            </a:r>
            <a:r>
              <a:rPr lang="en-US" sz="14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distributed service boundaries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with reliable inter-service communication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661" y="2257822"/>
            <a:ext cx="6910810" cy="31627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87866" y="2662297"/>
            <a:ext cx="1528751" cy="19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Service Layer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87866" y="2907753"/>
            <a:ext cx="1685023" cy="29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Business logic and orchestration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809453" y="3701873"/>
            <a:ext cx="1528751" cy="19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REST API Layer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89070" y="3947329"/>
            <a:ext cx="1549134" cy="29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Spring Boot controllers and validation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687866" y="4313283"/>
            <a:ext cx="1528751" cy="19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Client Request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87866" y="4558739"/>
            <a:ext cx="1685023" cy="149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HTTP request to REST API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83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Database Optimization &amp; Performance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65102"/>
            <a:ext cx="2175019" cy="4201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75881" y="2546548"/>
            <a:ext cx="174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Challenge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75881" y="3030835"/>
            <a:ext cx="174620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 database query latency was degrading backend response times and overall user experience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5501" y="1765102"/>
            <a:ext cx="2175118" cy="42019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39907" y="2546548"/>
            <a:ext cx="17463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Approach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239907" y="3030835"/>
            <a:ext cx="1746306" cy="272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Schema optimization, advanced indexing strategies, query execution plan analysis, and PostgreSQL best practices for distributed queries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9626" y="1765102"/>
            <a:ext cx="2175118" cy="42019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604032" y="2546548"/>
            <a:ext cx="17463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Result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5604032" y="3030835"/>
            <a:ext cx="1746306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~45% reduction in database query latency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with measurable improvement in backend throughput and user experience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251" y="2113855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076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 Deployment &amp; DevOps Pipeline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59434"/>
            <a:ext cx="5434373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2604492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Developer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3013174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Code pushed to Git Repository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1659434"/>
            <a:ext cx="5434373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84854" y="2604492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GitHub Actions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84854" y="3013174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CI/CD pipeline triggered automatically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504605"/>
            <a:ext cx="5434373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0482" y="4449663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Docker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50482" y="4858345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Services containerized for consistent environments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3504605"/>
            <a:ext cx="5434373" cy="7560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84854" y="4449663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AWS EC2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84854" y="4858345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Production backend deployed to cloud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61475" y="556240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This automated workflow improved deployment efficiency, consistency, and significantly reduced manual intervention in production releases.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7907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Reliability &amp; Quality Engineering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57797"/>
            <a:ext cx="3527734" cy="35278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0601" y="1503958"/>
            <a:ext cx="691587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Quality Embedded in the Development Lifecycle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1551" y="1937742"/>
            <a:ext cx="2190497" cy="20863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32924" y="1956792"/>
            <a:ext cx="1959124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Centralized Error Handling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4832924" y="2661741"/>
            <a:ext cx="1959124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Standardized exception management across all distributed services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3713" y="1937742"/>
            <a:ext cx="2190497" cy="20863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05085" y="1956792"/>
            <a:ext cx="195912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Input Validation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7205085" y="2389584"/>
            <a:ext cx="1959124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Comprehensive validation enforced at all API boundaries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5875" y="1937742"/>
            <a:ext cx="2190596" cy="20863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577247" y="1956792"/>
            <a:ext cx="1959224" cy="816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Unit &amp; Integration Testing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9577247" y="2933898"/>
            <a:ext cx="1959224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JUnit and integration tests ensuring code reliability at every layer</a:t>
            </a:r>
            <a:endParaRPr lang="en-US" sz="13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1551" y="4307284"/>
            <a:ext cx="6934919" cy="73868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832924" y="4326334"/>
            <a:ext cx="670354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API Contract Testing</a:t>
            </a:r>
            <a:endParaRPr lang="en-US" sz="1700" dirty="0"/>
          </a:p>
        </p:txBody>
      </p:sp>
      <p:sp>
        <p:nvSpPr>
          <p:cNvPr id="16" name="Text 9"/>
          <p:cNvSpPr/>
          <p:nvPr/>
        </p:nvSpPr>
        <p:spPr>
          <a:xfrm>
            <a:off x="4832924" y="4759127"/>
            <a:ext cx="6703547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Verified contracts to prevent breaking changes across services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4620601" y="5207595"/>
            <a:ext cx="6915870" cy="911820"/>
          </a:xfrm>
          <a:prstGeom prst="roundRect">
            <a:avLst>
              <a:gd name="adj" fmla="val 2867"/>
            </a:avLst>
          </a:prstGeom>
          <a:solidFill>
            <a:srgbClr val="B6FCB8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4825" y="5449788"/>
            <a:ext cx="217780" cy="17422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86828" y="5395714"/>
            <a:ext cx="6175419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~30% improvement in backend reliability</a:t>
            </a:r>
            <a:r>
              <a:rPr lang="en-US" sz="13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across distributed service boundaries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22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Performance &amp; Scale Metrics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93354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15+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2453283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REST APIs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2861965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Production-grade endpoints designed and deployed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13915" y="1593354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10K+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6213915" y="2453283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Monthly Requests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213915" y="2861965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Served reliably across distributed services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3636863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45%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661475" y="4496792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Latency Reduction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61475" y="4905474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Achieved through database optimization and indexing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13915" y="3636863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30%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6213915" y="4496792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Reliability Gain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213915" y="4905474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Improvement in backend reliability via quality engineering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572293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These metrics reflect exposure to production-oriented concerns: </a:t>
            </a: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scalability, latency optimization, reliability, and fault isolation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in distributed systems.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40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Contributions &amp; Technical Learning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3453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66CC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Contributions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2246412"/>
            <a:ext cx="94454" cy="94456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5" name="Text 3"/>
          <p:cNvSpPr/>
          <p:nvPr/>
        </p:nvSpPr>
        <p:spPr>
          <a:xfrm>
            <a:off x="944936" y="2142430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REST API development and backend architecture design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229273"/>
            <a:ext cx="94454" cy="94456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7" name="Text 5"/>
          <p:cNvSpPr/>
          <p:nvPr/>
        </p:nvSpPr>
        <p:spPr>
          <a:xfrm>
            <a:off x="944936" y="3125291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Exception handling, input validation, and API contract reliability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61475" y="4212134"/>
            <a:ext cx="94454" cy="94456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9" name="Text 7"/>
          <p:cNvSpPr/>
          <p:nvPr/>
        </p:nvSpPr>
        <p:spPr>
          <a:xfrm>
            <a:off x="944936" y="4108152"/>
            <a:ext cx="49203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PostgreSQL optimization and AWS EC2 deployment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1475" y="4892576"/>
            <a:ext cx="94454" cy="94456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11" name="Text 9"/>
          <p:cNvSpPr/>
          <p:nvPr/>
        </p:nvSpPr>
        <p:spPr>
          <a:xfrm>
            <a:off x="944936" y="4788595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Docker containerization and CI/CD pipeline implementation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5875437"/>
            <a:ext cx="94454" cy="94456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13" name="Text 11"/>
          <p:cNvSpPr/>
          <p:nvPr/>
        </p:nvSpPr>
        <p:spPr>
          <a:xfrm>
            <a:off x="944936" y="5771455"/>
            <a:ext cx="49203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Unit, integration, and API contract testing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32776" y="163453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40A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Technical Learning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332776" y="2246412"/>
            <a:ext cx="94454" cy="94456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16" name="Text 14"/>
          <p:cNvSpPr/>
          <p:nvPr/>
        </p:nvSpPr>
        <p:spPr>
          <a:xfrm>
            <a:off x="6616237" y="2142430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Production-grade backend architecture and scalable system design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332776" y="3229273"/>
            <a:ext cx="94454" cy="94456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18" name="Text 16"/>
          <p:cNvSpPr/>
          <p:nvPr/>
        </p:nvSpPr>
        <p:spPr>
          <a:xfrm>
            <a:off x="6616237" y="3125291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Advanced database optimization and performance tuning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32776" y="4212134"/>
            <a:ext cx="94454" cy="94456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20" name="Text 18"/>
          <p:cNvSpPr/>
          <p:nvPr/>
        </p:nvSpPr>
        <p:spPr>
          <a:xfrm>
            <a:off x="6616237" y="4108152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Cloud deployment, containerization, and DevOps workflows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332776" y="5194995"/>
            <a:ext cx="94454" cy="94456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22" name="Text 20"/>
          <p:cNvSpPr/>
          <p:nvPr/>
        </p:nvSpPr>
        <p:spPr>
          <a:xfrm>
            <a:off x="6616237" y="5091013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Professional API design, testing, and reliability practices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9F7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2" y="485279"/>
            <a:ext cx="4415422" cy="5887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61082"/>
            <a:ext cx="6296860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Conclusion &amp; Career Impact</a:t>
            </a:r>
            <a:endParaRPr lang="en-US" sz="3050" dirty="0"/>
          </a:p>
        </p:txBody>
      </p:sp>
      <p:sp>
        <p:nvSpPr>
          <p:cNvPr id="5" name="Text 2"/>
          <p:cNvSpPr/>
          <p:nvPr/>
        </p:nvSpPr>
        <p:spPr>
          <a:xfrm>
            <a:off x="5233360" y="1244600"/>
            <a:ext cx="6296860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internship transformed academic understanding of backend development into </a:t>
            </a:r>
            <a:r>
              <a:rPr lang="en-US" sz="12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practical experience with production-oriented software engineering</a:t>
            </a: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from API design to cloud deployment.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233360" y="2077045"/>
            <a:ext cx="6296860" cy="864096"/>
          </a:xfrm>
          <a:prstGeom prst="roundRect">
            <a:avLst>
              <a:gd name="adj" fmla="val 2717"/>
            </a:avLst>
          </a:prstGeom>
          <a:solidFill>
            <a:srgbClr val="F9F7F7"/>
          </a:solidFill>
          <a:ln/>
        </p:spPr>
      </p:sp>
      <p:sp>
        <p:nvSpPr>
          <p:cNvPr id="7" name="Text 4"/>
          <p:cNvSpPr/>
          <p:nvPr/>
        </p:nvSpPr>
        <p:spPr>
          <a:xfrm>
            <a:off x="5389825" y="2233513"/>
            <a:ext cx="59839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Backend Expertise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89825" y="2555776"/>
            <a:ext cx="59839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Java, Spring Boot, and scalable REST API design at production scale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233360" y="3070721"/>
            <a:ext cx="6296860" cy="864096"/>
          </a:xfrm>
          <a:prstGeom prst="roundRect">
            <a:avLst>
              <a:gd name="adj" fmla="val 2717"/>
            </a:avLst>
          </a:prstGeom>
          <a:solidFill>
            <a:srgbClr val="F9F7F7"/>
          </a:solidFill>
          <a:ln/>
        </p:spPr>
      </p:sp>
      <p:sp>
        <p:nvSpPr>
          <p:cNvPr id="10" name="Text 7"/>
          <p:cNvSpPr/>
          <p:nvPr/>
        </p:nvSpPr>
        <p:spPr>
          <a:xfrm>
            <a:off x="5389825" y="3227189"/>
            <a:ext cx="59839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 &amp; DevOps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389825" y="3549452"/>
            <a:ext cx="59839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Hands-on AWS, Docker, and CI/CD automation in real workflows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233360" y="4064397"/>
            <a:ext cx="6296860" cy="864096"/>
          </a:xfrm>
          <a:prstGeom prst="roundRect">
            <a:avLst>
              <a:gd name="adj" fmla="val 2717"/>
            </a:avLst>
          </a:prstGeom>
          <a:solidFill>
            <a:srgbClr val="F9F7F7"/>
          </a:solidFill>
          <a:ln/>
        </p:spPr>
      </p:sp>
      <p:sp>
        <p:nvSpPr>
          <p:cNvPr id="13" name="Text 10"/>
          <p:cNvSpPr/>
          <p:nvPr/>
        </p:nvSpPr>
        <p:spPr>
          <a:xfrm>
            <a:off x="5389825" y="4220865"/>
            <a:ext cx="59839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Database Performance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389825" y="4543127"/>
            <a:ext cx="59839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Optimization and reliability engineering at scale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233360" y="5058073"/>
            <a:ext cx="6296860" cy="864096"/>
          </a:xfrm>
          <a:prstGeom prst="roundRect">
            <a:avLst>
              <a:gd name="adj" fmla="val 2717"/>
            </a:avLst>
          </a:prstGeom>
          <a:solidFill>
            <a:srgbClr val="F9F7F7"/>
          </a:solidFill>
          <a:ln/>
        </p:spPr>
      </p:sp>
      <p:sp>
        <p:nvSpPr>
          <p:cNvPr id="16" name="Text 13"/>
          <p:cNvSpPr/>
          <p:nvPr/>
        </p:nvSpPr>
        <p:spPr>
          <a:xfrm>
            <a:off x="5389825" y="5214541"/>
            <a:ext cx="59839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Career Foundation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389825" y="5536803"/>
            <a:ext cx="59839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Strong base for backend, cloud, and distributed systems engineering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28568" y="6067921"/>
            <a:ext cx="690644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Thank You — Questions &amp; Discussion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735</Words>
  <Application>Microsoft Office PowerPoint</Application>
  <PresentationFormat>Widescreen</PresentationFormat>
  <Paragraphs>132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Platypi Medium</vt:lpstr>
      <vt:lpstr>Source Serif 4 Bold</vt:lpstr>
      <vt:lpstr>Arial</vt:lpstr>
      <vt:lpstr>Source Serif 4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Divyanshu Tiwari</dc:creator>
  <cp:lastModifiedBy>Divyanshu Tiwari</cp:lastModifiedBy>
  <cp:revision>2</cp:revision>
  <dcterms:created xsi:type="dcterms:W3CDTF">2026-08-30T14:52:15Z</dcterms:created>
  <dcterms:modified xsi:type="dcterms:W3CDTF">2026-08-30T14:53:49Z</dcterms:modified>
</cp:coreProperties>
</file>